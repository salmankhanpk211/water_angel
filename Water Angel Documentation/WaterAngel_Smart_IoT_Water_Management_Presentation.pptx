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55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37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5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59.png"/><Relationship Id="rId5" Type="http://schemas.openxmlformats.org/officeDocument/2006/relationships/image" Target="../media/image4.png"/><Relationship Id="rId10" Type="http://schemas.openxmlformats.org/officeDocument/2006/relationships/image" Target="../media/image58.png"/><Relationship Id="rId4" Type="http://schemas.openxmlformats.org/officeDocument/2006/relationships/image" Target="../media/image3.png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5852160" cy="585216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5775" y="5212080"/>
            <a:ext cx="3291840" cy="329184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571500"/>
            <a:ext cx="777240" cy="777240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6" name="Image 0" descr="icons/dr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74249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6766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SWABI  ·  DEPARTMENT OF COMPUTER SCIENCE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Angel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IoT-Based Water Management &amp; Monitoring System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4251960"/>
            <a:ext cx="6675120" cy="1828800"/>
          </a:xfrm>
          <a:prstGeom prst="roundRect">
            <a:avLst>
              <a:gd name="adj" fmla="val 5000"/>
            </a:avLst>
          </a:prstGeom>
          <a:solidFill>
            <a:srgbClr val="0E3B4F"/>
          </a:solidFill>
          <a:ln w="12700">
            <a:solidFill>
              <a:srgbClr val="16566B"/>
            </a:solidFill>
            <a:prstDash val="solid"/>
          </a:ln>
        </p:spPr>
        <p:txBody>
          <a:bodyPr/>
          <a:lstStyle/>
          <a:p>
            <a:endParaRPr lang="en-PK" dirty="0"/>
          </a:p>
        </p:txBody>
      </p:sp>
      <p:sp>
        <p:nvSpPr>
          <p:cNvPr id="11" name="Text 8"/>
          <p:cNvSpPr/>
          <p:nvPr/>
        </p:nvSpPr>
        <p:spPr>
          <a:xfrm>
            <a:off x="1188720" y="4434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Khan</a:t>
            </a:r>
            <a:r>
              <a:rPr lang="en-US" sz="135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(Roll No. 111, BS CS – Batch 12, Section C)    Semester : 4</a:t>
            </a:r>
            <a:r>
              <a:rPr lang="en-US" sz="1350" baseline="3000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350" baseline="30000" dirty="0"/>
          </a:p>
        </p:txBody>
      </p:sp>
      <p:sp>
        <p:nvSpPr>
          <p:cNvPr id="12" name="Text 9"/>
          <p:cNvSpPr/>
          <p:nvPr/>
        </p:nvSpPr>
        <p:spPr>
          <a:xfrm>
            <a:off x="118872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7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Shayan Asim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(93)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Muhammad Hamza Jamal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(57)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35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: 4</a:t>
            </a:r>
            <a:r>
              <a:rPr lang="en-US" sz="1350" baseline="3000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88720" y="5257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Saeed Ahmad</a:t>
            </a:r>
            <a:r>
              <a:rPr lang="en-US" sz="135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Assistant Professor, Dept. of Computer Science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88720" y="5669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Project(IoT) Presentation  ·  Departmental Review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Water Tanks Run on Guesswork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pump operation leads to waste, equipment damage, and zero visibility into water level or quality.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14884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7" name="Image 0" descr="icons/overfl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286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&amp; Underflow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3246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manual switching wastes clean water or causes shortages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19202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1296" y="214884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2" name="Image 1" descr="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2860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Electricity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mistimed pump runtime drives up energy bills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1344" y="19202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27648" y="214884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2" descr="icons/pum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2860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Damage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82512" y="3246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Dry-running conditions go undetected and wear out equipment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97696" y="192024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214884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2" name="Image 3" descr="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22860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98864" y="28346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98864" y="324612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 on current water level at all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4944" y="448056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7" name="Image 4" descr="icons/remo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6177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5166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Access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49808" y="55778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check or control the pump while away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64992" y="42519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11296" y="448056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32" name="Image 5" descr="icons/flas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456" y="46177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66160" y="5166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Water Quality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66160" y="55778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/ contamination levels are never measured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81344" y="42519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27648" y="448056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37" name="Image 6" descr="icons/slider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461772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82512" y="5166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Automation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382512" y="55778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depends on someone remembering to switch the pump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997696" y="425196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144000" y="4480560"/>
            <a:ext cx="548640" cy="54864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42" name="Image 7" descr="icons/c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160" y="461772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98864" y="51663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Control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198864" y="55778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decision-making exists in conventional setups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Angel: An Offline-First Smart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ESP32-based system that automates pump control using real-time water level and quality sensing — synced to the cloud and accessible from anywhere, while continuing to operate fully even when the internet goes down.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3566160"/>
            <a:ext cx="822960" cy="822960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8" name="Image 0" descr="icons/chip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771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Microcontroller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reading, pump logic, Wi-Fi &amp; local control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32004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92140" y="3566160"/>
            <a:ext cx="822960" cy="822960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3" name="Image 1" descr="icons/cloud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719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Cloud 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5074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sync, authentication &amp; secure storage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320040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86900" y="3566160"/>
            <a:ext cx="822960" cy="822960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8" name="Image 2" descr="icons/app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7719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Web App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5074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control &amp; configuration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pump control via real-time water-level sensing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898648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overflow and underflow conditions entirely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498848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105656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water quality continuously using a TDS sensor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705856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705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5312664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remote monitoring &amp; control through a mobile app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2084832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691640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 tank-height and threshold configuration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3291840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898648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manual override alongside automatic mode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449884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105656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offline-first, uninterrupted operation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5705856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705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5312664"/>
            <a:ext cx="4754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real-time analytics and intelligent alerts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A2E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15768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8" name="Image 0" descr="icons/sens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2816718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0472" y="26060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— ultrasonic level + TDS quality readings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493008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1" descr="icons/re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30" y="359395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0472" y="338328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— relay-driven automatic pump switching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4270248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4" name="Image 2" descr="icons/lc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437119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90472" y="416052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feedback — LCD, LED indicators &amp; buzzer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68680" y="5047488"/>
            <a:ext cx="420624" cy="420624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3" descr="icons/eepr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514843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90472" y="493776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config stored safely in EEPROM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263640" y="169164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263640" y="169164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F7A8C"/>
          </a:solidFill>
          <a:ln/>
        </p:spPr>
      </p:sp>
      <p:sp>
        <p:nvSpPr>
          <p:cNvPr id="21" name="Text 15"/>
          <p:cNvSpPr/>
          <p:nvPr/>
        </p:nvSpPr>
        <p:spPr>
          <a:xfrm>
            <a:off x="6537960" y="16916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583680" y="271576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3" name="Image 4" descr="icons/ap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630" y="2816718"/>
            <a:ext cx="218724" cy="2187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5472" y="260604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remote monitoring, control &amp; configuration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583680" y="349300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6" name="Image 5" descr="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630" y="3593958"/>
            <a:ext cx="218724" cy="2187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05472" y="338328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storage, auth &amp; real-time sync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83680" y="427024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9" name="Image 6" descr="icons/cha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630" y="4371198"/>
            <a:ext cx="218724" cy="2187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05472" y="416052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usage trends &amp; intelligent alerts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583680" y="504748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2" name="Image 7" descr="icons/offli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4630" y="5148438"/>
            <a:ext cx="218724" cy="21872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05472" y="493776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engine — full local function w/o internet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6" name="Image 0" descr="icons/chip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17320" y="21122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of the system — sensing, control &amp; connectivity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084832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1" name="Image 1" descr="icons/sensor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21284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64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212080" y="21122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 to water surface for level 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084832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6" name="Image 2" descr="icons/tds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2128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764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Sensor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006840" y="21122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dissolved solids to flag poor water quality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28269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767328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21" name="Image 3" descr="icons/relay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8953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41732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switch driving the water pump safely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28269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767328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26" name="Image 4" descr="icons/waterpump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38953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21208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tank — runs in auto or manual mode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282696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767328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31" name="Image 5" descr="icons/lcd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38953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900684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display for level, TDS, pump status &amp; mode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496519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449824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36" name="Image 6" descr="icons/led_m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5577840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129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&amp; Buzzer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417320" y="547725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/ audible alerts for critical conditions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343400" y="496519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44568" y="5449824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41" name="Image 7" descr="icons/eeprom_m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2584" y="5577840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12080" y="5129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Storage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212080" y="547725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Wi-Fi, thresholds &amp; calibration on reboot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138160" y="4965192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39328" y="5449824"/>
            <a:ext cx="512064" cy="512064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46" name="Image 8" descr="icons/button_mi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5577840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006840" y="5129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Button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9006840" y="547725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3s to open Wi-Fi provisioning hotspot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IT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68715" y="1435608"/>
            <a:ext cx="8854265" cy="4764024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5" name="Image 0" descr="img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07" y="1600200"/>
            <a:ext cx="8525081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connected to the ultrasonic level sensor, TDS sensor, relay module, LCD, LEDs and buzzer on a breadboard prototype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TESTED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Diagram to Working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5" name="Image 0" descr="img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1737360"/>
            <a:ext cx="25374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4340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8" name="Image 1" descr="img-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890" y="1737360"/>
            <a:ext cx="2537460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Tank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3816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11" name="Image 2" descr="img-003-r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211705"/>
            <a:ext cx="3246120" cy="24345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Circuit Board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65960"/>
            <a:ext cx="822960" cy="822960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6" name="Image 0" descr="icons/app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1717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Angel PWA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410712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interface — monitor levels, control the pump, configure thresholds, view analytics, and receive alerts from any browser.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2140" y="1965960"/>
            <a:ext cx="822960" cy="82296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1" descr="icons/databas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1717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Backend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008" y="3410712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database, authentication and real-time sync. Sensor readings, pump status, and configuration all live here.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1965960"/>
            <a:ext cx="822960" cy="822960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6" name="Image 2" descr="icons/offlin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1717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30768" y="3410712"/>
            <a:ext cx="2935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functions — level sensing, TDS monitoring, automatic pump control — keep running with zero internet.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AF6F5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5230368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1" name="Image 3" descr="icons/syn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888" y="532500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50749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connectivity returns, the ESP32 automatically resumes syncing readings, status, and settings with the cloud.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Dual-Core FreeRTOS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 to Supabase were blocking the sensor loop — causing overflow. Splitting across two cores eliminated the problem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39"/>
            <a:ext cx="3934969" cy="3784046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60860"/>
            <a:ext cx="3934969" cy="566928"/>
          </a:xfrm>
          <a:prstGeom prst="roundRect">
            <a:avLst>
              <a:gd name="adj" fmla="val 12903"/>
            </a:avLst>
          </a:prstGeom>
          <a:solidFill>
            <a:srgbClr val="0A2E4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6086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  —  SENSOR &amp; CONTROL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456388"/>
            <a:ext cx="347472" cy="347472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9" name="Image 0" descr="icons/sens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539781"/>
            <a:ext cx="180685" cy="18068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3740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water-level reading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023316"/>
            <a:ext cx="347472" cy="347472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2" name="Image 1" descr="icons/td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31067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410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water quality sampling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590244"/>
            <a:ext cx="347472" cy="347472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5" name="Image 2" descr="icons/rela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673637"/>
            <a:ext cx="180685" cy="1806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5079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ON / OFF control logic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157172"/>
            <a:ext cx="347472" cy="347472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8" name="Image 3" descr="icons/lc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33" y="4240565"/>
            <a:ext cx="180685" cy="1806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7487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LCD, LED &amp; buzzer feedback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77240" y="4724100"/>
            <a:ext cx="347472" cy="347472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21" name="Image 4" descr="icons/butt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4807493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6418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button &amp; beep handler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37795" y="5143463"/>
            <a:ext cx="3712235" cy="438912"/>
          </a:xfrm>
          <a:prstGeom prst="roundRect">
            <a:avLst>
              <a:gd name="adj" fmla="val 16667"/>
            </a:avLst>
          </a:prstGeom>
          <a:solidFill>
            <a:srgbClr val="EAF6F5"/>
          </a:solidFill>
          <a:ln w="12700">
            <a:solidFill>
              <a:srgbClr val="C0E0D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91133" y="51521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 ·  Cycle every 50 ms  ·  Pump reacts in &lt; 550 ms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205545" y="1660859"/>
            <a:ext cx="4236647" cy="4043425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205545" y="1660860"/>
            <a:ext cx="4236647" cy="566928"/>
          </a:xfrm>
          <a:prstGeom prst="roundRect">
            <a:avLst>
              <a:gd name="adj" fmla="val 12903"/>
            </a:avLst>
          </a:prstGeom>
          <a:solidFill>
            <a:srgbClr val="0F7A8C"/>
          </a:solidFill>
          <a:ln/>
        </p:spPr>
      </p:sp>
      <p:sp>
        <p:nvSpPr>
          <p:cNvPr id="27" name="Text 20"/>
          <p:cNvSpPr/>
          <p:nvPr/>
        </p:nvSpPr>
        <p:spPr>
          <a:xfrm>
            <a:off x="7406713" y="166086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 —  CLOUD &amp; NETWORK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434145" y="2456388"/>
            <a:ext cx="347472" cy="347472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9" name="Image 5" descr="icons/clou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7538" y="2539781"/>
            <a:ext cx="180685" cy="18068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82785" y="237409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GET / POST (blocks up to 10 s)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7434145" y="3023316"/>
            <a:ext cx="347472" cy="347472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32" name="Image 6" descr="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7538" y="3106709"/>
            <a:ext cx="180685" cy="18068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982785" y="29410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fetchDeviceInfo &amp; fetchPumpSettings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7434145" y="3590244"/>
            <a:ext cx="347472" cy="347472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35" name="Image 7" descr="icons/sync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7538" y="3673637"/>
            <a:ext cx="180685" cy="18068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982785" y="35079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sendSensorData every 30 s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7434145" y="4157172"/>
            <a:ext cx="347472" cy="347472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38" name="Image 8" descr="icons/wifi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7538" y="4240565"/>
            <a:ext cx="180685" cy="18068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982785" y="407487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connection &amp; auto-retry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7433205" y="4728776"/>
            <a:ext cx="347472" cy="347472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41" name="Image 9" descr="icons/offlin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6598" y="4812169"/>
            <a:ext cx="180685" cy="18068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981845" y="464648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Re-syncs settings on reconnect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7298472" y="5158449"/>
            <a:ext cx="4070263" cy="438912"/>
          </a:xfrm>
          <a:prstGeom prst="roundRect">
            <a:avLst>
              <a:gd name="adj" fmla="val 16667"/>
            </a:avLst>
          </a:prstGeom>
          <a:solidFill>
            <a:srgbClr val="EAF6F5"/>
          </a:solidFill>
          <a:ln w="12700">
            <a:solidFill>
              <a:srgbClr val="C0E0DC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7076647" y="5158449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 ·  Yield every 100 ms  ·  Never touches sensor pins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4793017" y="3017519"/>
            <a:ext cx="1984248" cy="991777"/>
          </a:xfrm>
          <a:prstGeom prst="roundRect">
            <a:avLst>
              <a:gd name="adj" fmla="val 11111"/>
            </a:avLst>
          </a:prstGeom>
          <a:solidFill>
            <a:srgbClr val="EAF6F5"/>
          </a:solidFill>
          <a:ln w="19050">
            <a:solidFill>
              <a:srgbClr val="1FA89C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4829593" y="303580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SensorSnapshot</a:t>
            </a:r>
            <a:endParaRPr lang="en-US" sz="950" dirty="0"/>
          </a:p>
        </p:txBody>
      </p:sp>
      <p:sp>
        <p:nvSpPr>
          <p:cNvPr id="47" name="Text 35"/>
          <p:cNvSpPr/>
          <p:nvPr/>
        </p:nvSpPr>
        <p:spPr>
          <a:xfrm>
            <a:off x="4829593" y="32918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· tds · pumpOn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pumpMode · runtimeMin</a:t>
            </a:r>
            <a:endParaRPr lang="en-US" sz="850" dirty="0"/>
          </a:p>
        </p:txBody>
      </p:sp>
      <p:sp>
        <p:nvSpPr>
          <p:cNvPr id="48" name="Shape 36"/>
          <p:cNvSpPr/>
          <p:nvPr/>
        </p:nvSpPr>
        <p:spPr>
          <a:xfrm>
            <a:off x="4948465" y="2788920"/>
            <a:ext cx="1673352" cy="237744"/>
          </a:xfrm>
          <a:prstGeom prst="rightArrow">
            <a:avLst/>
          </a:prstGeom>
          <a:solidFill>
            <a:srgbClr val="1FA89C"/>
          </a:solidFill>
          <a:ln/>
        </p:spPr>
      </p:sp>
      <p:sp>
        <p:nvSpPr>
          <p:cNvPr id="49" name="Shape 37"/>
          <p:cNvSpPr/>
          <p:nvPr/>
        </p:nvSpPr>
        <p:spPr>
          <a:xfrm>
            <a:off x="4793017" y="4297680"/>
            <a:ext cx="1984248" cy="678352"/>
          </a:xfrm>
          <a:prstGeom prst="roundRect">
            <a:avLst>
              <a:gd name="adj" fmla="val 11111"/>
            </a:avLst>
          </a:prstGeom>
          <a:solidFill>
            <a:srgbClr val="FFF3F0"/>
          </a:solidFill>
          <a:ln w="19050">
            <a:solidFill>
              <a:srgbClr val="D9684F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4829593" y="43159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CloudSettings</a:t>
            </a:r>
            <a:endParaRPr lang="en-US" sz="950" dirty="0"/>
          </a:p>
        </p:txBody>
      </p:sp>
      <p:sp>
        <p:nvSpPr>
          <p:cNvPr id="51" name="Text 39"/>
          <p:cNvSpPr/>
          <p:nvPr/>
        </p:nvSpPr>
        <p:spPr>
          <a:xfrm>
            <a:off x="4829593" y="457200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· tankHeight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pumpMode · manualCmd</a:t>
            </a:r>
            <a:endParaRPr lang="en-US" sz="850" dirty="0"/>
          </a:p>
        </p:txBody>
      </p:sp>
      <p:sp>
        <p:nvSpPr>
          <p:cNvPr id="52" name="Shape 40"/>
          <p:cNvSpPr/>
          <p:nvPr/>
        </p:nvSpPr>
        <p:spPr>
          <a:xfrm>
            <a:off x="4948465" y="4983480"/>
            <a:ext cx="1673352" cy="237744"/>
          </a:xfrm>
          <a:prstGeom prst="leftArrow">
            <a:avLst/>
          </a:prstGeom>
          <a:solidFill>
            <a:srgbClr val="D9684F"/>
          </a:solidFill>
          <a:ln/>
        </p:spPr>
      </p:sp>
      <p:sp>
        <p:nvSpPr>
          <p:cNvPr id="53" name="Text 41"/>
          <p:cNvSpPr/>
          <p:nvPr/>
        </p:nvSpPr>
        <p:spPr>
          <a:xfrm>
            <a:off x="4765585" y="349758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548640" y="5823157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0A2E40"/>
          </a:solidFill>
          <a:ln w="12700">
            <a:solidFill>
              <a:srgbClr val="E3EAEE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795528" y="5942029"/>
            <a:ext cx="420624" cy="420624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56" name="Image 10" descr="icons/check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653" y="6026154"/>
            <a:ext cx="252374" cy="252374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1325880" y="5823157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HTTP calls can now block Core 0 for up to 10 seconds — pump control on Core 1 is completely unaffected. Overflow eliminated.</a:t>
            </a:r>
            <a:endParaRPr lang="en-US" sz="1300" dirty="0"/>
          </a:p>
        </p:txBody>
      </p:sp>
      <p:sp>
        <p:nvSpPr>
          <p:cNvPr id="58" name="Text 4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PWA  ·  TAB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overview of the entire water management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" y="1655064"/>
            <a:ext cx="2547227" cy="4828032"/>
          </a:xfrm>
          <a:prstGeom prst="roundRect">
            <a:avLst>
              <a:gd name="adj" fmla="val 7898"/>
            </a:avLst>
          </a:prstGeom>
          <a:solidFill>
            <a:srgbClr val="0A2E40"/>
          </a:solidFill>
          <a:ln/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6" name="Image 0" descr="hom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2291195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360" y="1883664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8" name="Image 1" descr="icons/sign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19933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1728" y="169164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ESP32 connectivity status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if the device is online and when it last reported in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023360" y="2724912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2" descr="icons/dro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283464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81728" y="253288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tank-level gauge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fill graphic shows the exact water percentage at a glance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023360" y="3566160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4" name="Image 3" descr="icon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36758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81728" y="337413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at a glance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reading with a clear Safe / Unsafe indicator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023360" y="4407408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4" descr="icons/pow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088" y="451713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81728" y="4215384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status &amp; last update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ON/OFF state plus the most recent sync timestamp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023360" y="5248656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0" name="Image 5" descr="icons/bul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088" y="535838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81728" y="5056632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history &amp; smart insights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 graph with auto-generated tips like refill timing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PWA  ·  TAB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sensor readings into usage trends, scores, and recommendations.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23544" y="1655064"/>
            <a:ext cx="1896872" cy="4828032"/>
          </a:xfrm>
          <a:prstGeom prst="roundRect">
            <a:avLst>
              <a:gd name="adj" fmla="val 10605"/>
            </a:avLst>
          </a:prstGeom>
          <a:solidFill>
            <a:srgbClr val="0A2E40"/>
          </a:solidFill>
          <a:ln/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6" name="Image 0" descr="analytic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164084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360" y="1883664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8" name="Image 1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19933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81728" y="169164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water level history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 shows refill events and gradual consumption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023360" y="2724912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2" descr="icons/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283464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81728" y="253288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&amp; TDS trend analysis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usage bars and a 7-day water-quality trend line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023360" y="3566160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4" name="Image 3" descr="icons/tog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36758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81728" y="337413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activity tracking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how often and how long the pump has been running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023360" y="4407408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4" descr="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3088" y="451713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81728" y="4215384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Efficiency Score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summarizing how well the tank is managed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023360" y="5248656"/>
            <a:ext cx="457200" cy="457200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0" name="Image 5" descr="icons/repo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088" y="535838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81728" y="5056632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smart report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recommendations, e.g. peak usage windows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PWA  ·  TABS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&amp;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3816" y="2093976"/>
            <a:ext cx="1459141" cy="3355848"/>
          </a:xfrm>
          <a:prstGeom prst="roundRect">
            <a:avLst>
              <a:gd name="adj" fmla="val 7520"/>
            </a:avLst>
          </a:prstGeom>
          <a:solidFill>
            <a:srgbClr val="0A2E40"/>
          </a:solidFill>
          <a:ln/>
        </p:spPr>
      </p:sp>
      <p:pic>
        <p:nvPicPr>
          <p:cNvPr id="7" name="Image 0" descr="img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1349413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38133" y="2240280"/>
            <a:ext cx="146304" cy="14630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9" name="Text 6"/>
          <p:cNvSpPr/>
          <p:nvPr/>
        </p:nvSpPr>
        <p:spPr>
          <a:xfrm>
            <a:off x="2812453" y="2121408"/>
            <a:ext cx="28568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Automatic and Manual pump modes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38133" y="3081528"/>
            <a:ext cx="146304" cy="14630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11" name="Text 8"/>
          <p:cNvSpPr/>
          <p:nvPr/>
        </p:nvSpPr>
        <p:spPr>
          <a:xfrm>
            <a:off x="2812453" y="2962656"/>
            <a:ext cx="28568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custom tank height for accurate level 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38133" y="3922776"/>
            <a:ext cx="146304" cy="146304"/>
          </a:xfrm>
          <a:prstGeom prst="ellipse">
            <a:avLst/>
          </a:prstGeom>
          <a:solidFill>
            <a:srgbClr val="1FA89C"/>
          </a:solidFill>
          <a:ln/>
        </p:spPr>
      </p:sp>
      <p:sp>
        <p:nvSpPr>
          <p:cNvPr id="13" name="Text 10"/>
          <p:cNvSpPr/>
          <p:nvPr/>
        </p:nvSpPr>
        <p:spPr>
          <a:xfrm>
            <a:off x="2812453" y="3803904"/>
            <a:ext cx="28568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Upper / Lower / Critical thresholds live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6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28816" y="2093976"/>
            <a:ext cx="2258568" cy="3590243"/>
          </a:xfrm>
          <a:prstGeom prst="roundRect">
            <a:avLst>
              <a:gd name="adj" fmla="val 4858"/>
            </a:avLst>
          </a:prstGeom>
          <a:solidFill>
            <a:srgbClr val="0A2E40"/>
          </a:solidFill>
          <a:ln/>
        </p:spPr>
      </p:sp>
      <p:pic>
        <p:nvPicPr>
          <p:cNvPr id="17" name="Image 1" descr="alerts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48840"/>
            <a:ext cx="2148840" cy="348051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052560" y="2295144"/>
            <a:ext cx="365760" cy="365760"/>
          </a:xfrm>
          <a:prstGeom prst="ellipse">
            <a:avLst/>
          </a:prstGeom>
          <a:solidFill>
            <a:srgbClr val="D9684F"/>
          </a:solidFill>
          <a:ln/>
        </p:spPr>
      </p:sp>
      <p:pic>
        <p:nvPicPr>
          <p:cNvPr id="19" name="Image 2" descr="icons/lea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342" y="2382926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19488" y="2121408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Sudden-drop / leak detection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52560" y="3081528"/>
            <a:ext cx="365760" cy="365760"/>
          </a:xfrm>
          <a:prstGeom prst="ellipse">
            <a:avLst/>
          </a:prstGeom>
          <a:solidFill>
            <a:srgbClr val="D9684F"/>
          </a:solidFill>
          <a:ln/>
        </p:spPr>
      </p:sp>
      <p:pic>
        <p:nvPicPr>
          <p:cNvPr id="22" name="Image 3" descr="icon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3169310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19488" y="2907792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High-TDS water quality warnings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052560" y="3867912"/>
            <a:ext cx="365760" cy="365760"/>
          </a:xfrm>
          <a:prstGeom prst="ellipse">
            <a:avLst/>
          </a:prstGeom>
          <a:solidFill>
            <a:srgbClr val="D9684F"/>
          </a:solidFill>
          <a:ln/>
        </p:spPr>
      </p:sp>
      <p:pic>
        <p:nvPicPr>
          <p:cNvPr id="25" name="Image 4" descr="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342" y="3955694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19488" y="3694176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low-level refill alerts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052560" y="4654296"/>
            <a:ext cx="365760" cy="365760"/>
          </a:xfrm>
          <a:prstGeom prst="ellipse">
            <a:avLst/>
          </a:prstGeom>
          <a:solidFill>
            <a:srgbClr val="D9684F"/>
          </a:solidFill>
          <a:ln/>
        </p:spPr>
      </p:sp>
      <p:pic>
        <p:nvPicPr>
          <p:cNvPr id="28" name="Image 5" descr="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342" y="4742078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19488" y="448056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timestamped &amp; categorized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PWA  ·  TAB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Account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management, device pairing, and system configuration in one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2104" y="1655064"/>
            <a:ext cx="2532093" cy="4828032"/>
          </a:xfrm>
          <a:prstGeom prst="roundRect">
            <a:avLst>
              <a:gd name="adj" fmla="val 7945"/>
            </a:avLst>
          </a:prstGeom>
          <a:solidFill>
            <a:srgbClr val="0A2E40"/>
          </a:solidFill>
          <a:ln/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6" name="Image 0" descr="profil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2276061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60520" y="2162556"/>
            <a:ext cx="475488" cy="47548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8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637" y="2276673"/>
            <a:ext cx="247254" cy="247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37176" y="1920240"/>
            <a:ext cx="6729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pairing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app to a specific Water Angel unit via its unique Device Key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160520" y="3122676"/>
            <a:ext cx="475488" cy="47548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2" descr="icons/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637" y="3236793"/>
            <a:ext cx="247254" cy="247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37176" y="2880360"/>
            <a:ext cx="6729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preferences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toggle Low Water, High TDS, Pump Status &amp; Anomaly alerts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60520" y="4082796"/>
            <a:ext cx="475488" cy="47548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4" name="Image 3" descr="icons/wifi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637" y="4196913"/>
            <a:ext cx="247254" cy="2472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7176" y="3840480"/>
            <a:ext cx="6729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calibration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Wi-Fi credentials and recalibrate tank height anytime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4160520" y="5042916"/>
            <a:ext cx="475488" cy="47548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4" descr="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4637" y="5157033"/>
            <a:ext cx="247254" cy="2472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7176" y="4800600"/>
            <a:ext cx="6729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and sign out safely from the connected device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396335" y="640080"/>
            <a:ext cx="9399024" cy="5760720"/>
          </a:xfrm>
          <a:prstGeom prst="roundRect">
            <a:avLst>
              <a:gd name="adj" fmla="val 115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pic>
        <p:nvPicPr>
          <p:cNvPr id="4" name="Image 0" descr="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495" y="777240"/>
            <a:ext cx="9124704" cy="5512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JUST PLANNED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Achievements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feature was implemented, tested, and verified working end-to-end.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2212848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7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2289658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65960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pump control working reliably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3816" y="3291840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11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3368650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44952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operation verified under no internet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123944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3816" y="4370832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15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4447642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123944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synchronization tested successfully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202936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3816" y="5449824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19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5526634"/>
            <a:ext cx="230429" cy="2304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202936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fully implemented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1965960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28816" y="2212848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3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2289658"/>
            <a:ext cx="230429" cy="2304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1965960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(TDS) monitoring implemented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63640" y="3044952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28816" y="3291840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7" name="Image 5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3368650"/>
            <a:ext cx="230429" cy="23042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044952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notification system live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263640" y="4123944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528816" y="4370832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1" name="Image 6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4447642"/>
            <a:ext cx="230429" cy="23042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40880" y="4123944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analytics dashboard developed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263640" y="5202936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528816" y="5449824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5" name="Image 7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5526634"/>
            <a:ext cx="230429" cy="23042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40880" y="5202936"/>
            <a:ext cx="4389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provisioning &amp; remote configuration working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Deployment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A2E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74036"/>
            <a:ext cx="384048" cy="38404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8" name="Image 0" descr="icons/d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2666208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2468880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water wastage from overflow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232404"/>
            <a:ext cx="384048" cy="38404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1" name="Image 1" descr="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52" y="3324576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53896" y="3127248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electricity via optimized pump runtime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3890772"/>
            <a:ext cx="384048" cy="38404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4" name="Image 2" descr="icons/pum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52" y="3982944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53896" y="3785616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pump damage from dry-running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68680" y="4549140"/>
            <a:ext cx="384048" cy="38404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17" name="Image 3" descr="icons/sign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641312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53896" y="4443984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level &amp; quality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68680" y="5207508"/>
            <a:ext cx="384048" cy="384048"/>
          </a:xfrm>
          <a:prstGeom prst="ellipse">
            <a:avLst/>
          </a:prstGeom>
          <a:solidFill>
            <a:srgbClr val="0F7A8C"/>
          </a:solidFill>
          <a:ln/>
        </p:spPr>
      </p:sp>
      <p:pic>
        <p:nvPicPr>
          <p:cNvPr id="20" name="Image 4" descr="icons/ap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5299680"/>
            <a:ext cx="199705" cy="1997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53896" y="5102352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accessibility from anywhere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63640" y="169164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263640" y="169164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F7A8C"/>
          </a:solidFill>
          <a:ln/>
        </p:spPr>
      </p:sp>
      <p:sp>
        <p:nvSpPr>
          <p:cNvPr id="24" name="Text 17"/>
          <p:cNvSpPr/>
          <p:nvPr/>
        </p:nvSpPr>
        <p:spPr>
          <a:xfrm>
            <a:off x="6537960" y="16916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AREAS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583680" y="2574036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6" name="Image 5" descr="icons/hom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852" y="2666208"/>
            <a:ext cx="199705" cy="19970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68896" y="2468880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homes &amp; domestic tanks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83680" y="3232404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29" name="Image 6" descr="icons/build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852" y="3324576"/>
            <a:ext cx="199705" cy="19970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68896" y="3127248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buildings &amp; housing societies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583680" y="3890772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2" name="Image 7" descr="icons/school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852" y="3982944"/>
            <a:ext cx="199705" cy="19970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68896" y="3785616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&amp; hostels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583680" y="4549140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5" name="Image 8" descr="icons/industry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852" y="4641312"/>
            <a:ext cx="199705" cy="19970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68896" y="4443984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buildings &amp; small industries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6583680" y="5207508"/>
            <a:ext cx="384048" cy="384048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38" name="Image 9" descr="icons/tractor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852" y="5299680"/>
            <a:ext cx="199705" cy="19970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68896" y="5102352"/>
            <a:ext cx="4215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farms &amp; irrigation systems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v1.0 is complete — here's where it can grow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7" name="Image 0" descr="icons/ai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51002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Prediction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494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consumption patterns and pre-emptively schedule refills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0837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2" name="Image 1" descr="icons/leak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40" y="251002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9689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Detection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1518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abnormal flow or sudden drops and alert before water is lost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8912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2861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17" name="Image 2" descr="icons/solar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25100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1713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Solar-Powered Operation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3542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dependency on grid power for full energy independence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30936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4885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22" name="Image 3" descr="icons/bell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510028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3737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Push Notifications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5566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push alerts instead of in-app notifications only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22960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76909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27" name="Image 4" descr="icons/micro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260" y="2510028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35761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Water Quality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37590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sensors for pH, turbidity &amp; chlorine beyond TDS alone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0149840" y="1965960"/>
            <a:ext cx="1755648" cy="4023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101600" dist="38100" dir="5400000" algn="bl" rotWithShape="0">
              <a:srgbClr val="0A2E4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689336" y="2340864"/>
            <a:ext cx="676656" cy="676656"/>
          </a:xfrm>
          <a:prstGeom prst="ellipse">
            <a:avLst/>
          </a:prstGeom>
          <a:solidFill>
            <a:srgbClr val="0A2E40"/>
          </a:solidFill>
          <a:ln/>
        </p:spPr>
      </p:sp>
      <p:pic>
        <p:nvPicPr>
          <p:cNvPr id="32" name="Image 5" descr="icons/community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0" y="2510028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277856" y="315468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Community Management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0296144" y="3886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single dashboard across multiple connected tanks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Angel — Project Presentation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65376" y="4992624"/>
            <a:ext cx="6217920" cy="621792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26464" y="5431536"/>
            <a:ext cx="4754880" cy="475488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87552" y="5870448"/>
            <a:ext cx="3291840" cy="3291840"/>
          </a:xfrm>
          <a:prstGeom prst="ellipse">
            <a:avLst/>
          </a:prstGeom>
          <a:ln w="15240">
            <a:solidFill>
              <a:srgbClr val="1C5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07228" y="982980"/>
            <a:ext cx="777240" cy="777240"/>
          </a:xfrm>
          <a:prstGeom prst="ellipse">
            <a:avLst/>
          </a:prstGeom>
          <a:solidFill>
            <a:srgbClr val="1FA89C"/>
          </a:solidFill>
          <a:ln/>
        </p:spPr>
      </p:sp>
      <p:pic>
        <p:nvPicPr>
          <p:cNvPr id="6" name="Image 0" descr="icons/dr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20" y="115397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8899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Angel modernizes traditional water management — reducing waste, saving energy, and enabling smart, remote, real-time control.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78328" y="5029200"/>
            <a:ext cx="6035040" cy="1051560"/>
          </a:xfrm>
          <a:prstGeom prst="roundRect">
            <a:avLst>
              <a:gd name="adj" fmla="val 8696"/>
            </a:avLst>
          </a:prstGeom>
          <a:solidFill>
            <a:srgbClr val="0E3B4F"/>
          </a:solidFill>
          <a:ln w="12700">
            <a:solidFill>
              <a:srgbClr val="1656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2648" y="51937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Khan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· University of Swabi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259C92-47CA-4D4C-2FCF-FA10DE7F6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240" y="4396740"/>
            <a:ext cx="1257300" cy="1257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3555FD-DAED-A4B6-8CEB-9057787FB0DE}"/>
              </a:ext>
            </a:extLst>
          </p:cNvPr>
          <p:cNvSpPr txBox="1"/>
          <p:nvPr/>
        </p:nvSpPr>
        <p:spPr>
          <a:xfrm>
            <a:off x="9325534" y="5740646"/>
            <a:ext cx="2702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Scan for Water Angel App</a:t>
            </a:r>
            <a:endParaRPr lang="en-PK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1494</Words>
  <Application>Microsoft Office PowerPoint</Application>
  <PresentationFormat>Widescreen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Angel - Smart IoT Water Management System</dc:title>
  <dc:subject>PptxGenJS Presentation</dc:subject>
  <dc:creator>Salman Khan</dc:creator>
  <cp:lastModifiedBy>Saim</cp:lastModifiedBy>
  <cp:revision>7</cp:revision>
  <dcterms:created xsi:type="dcterms:W3CDTF">2026-06-23T03:19:44Z</dcterms:created>
  <dcterms:modified xsi:type="dcterms:W3CDTF">2026-07-18T14:29:09Z</dcterms:modified>
</cp:coreProperties>
</file>